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8FA4B90-3892-43CA-9AF9-21615C2DAC2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79D923-76E9-49F0-B4D4-61CC524E5F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176452-186C-4026-90B1-599DEC3217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0A9B39-2C2B-46B5-BE4A-3BC2FFB209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6FDFD9-A5EC-42FD-974F-9FBD679AE5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078E35-836F-4CE9-BE33-182FD0009B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3D1D81-D589-43C1-9C88-207F9652675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F2FC79-8567-4D79-980E-655B8F179C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C05CDD-B7D4-48A3-AC0B-B6E7CCCAA0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93C40D-6BAD-4FB9-8073-6F8E22AA826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3DC5E5-B4A3-47E1-B012-39D86DFECB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164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0" y="164520"/>
            <a:ext cx="2925720" cy="4974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137160" y="457200"/>
            <a:ext cx="26514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Data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Quality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Maintenance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Tool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137160" y="32918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adcfc"/>
                </a:solidFill>
                <a:latin typeface="Calibri"/>
                <a:ea typeface="Calibri"/>
              </a:rPr>
              <a:t>MSc Data Science  |  Sem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37160" y="365760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Project Presentation  2025–26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3200400" y="914400"/>
            <a:ext cx="5760360" cy="685440"/>
          </a:xfrm>
          <a:prstGeom prst="rect">
            <a:avLst/>
          </a:prstGeom>
          <a:solidFill>
            <a:srgbClr val="f4f7fc"/>
          </a:solidFill>
          <a:ln w="1016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3200400" y="914400"/>
            <a:ext cx="72720" cy="685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3383280" y="95112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6070"/>
                </a:solidFill>
                <a:latin typeface="Calibri"/>
                <a:ea typeface="Calibri"/>
              </a:rPr>
              <a:t>Name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3383280" y="12344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2e"/>
                </a:solidFill>
                <a:latin typeface="Calibri"/>
                <a:ea typeface="Calibri"/>
              </a:rPr>
              <a:t>Patel Nipun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3200400" y="1737360"/>
            <a:ext cx="5760360" cy="685440"/>
          </a:xfrm>
          <a:prstGeom prst="rect">
            <a:avLst/>
          </a:prstGeom>
          <a:solidFill>
            <a:srgbClr val="f4f7fc"/>
          </a:solidFill>
          <a:ln w="1016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3200400" y="1737360"/>
            <a:ext cx="72720" cy="685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3383280" y="177408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6070"/>
                </a:solidFill>
                <a:latin typeface="Calibri"/>
                <a:ea typeface="Calibri"/>
              </a:rPr>
              <a:t>Enrollment No.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3383280" y="205740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2e"/>
                </a:solidFill>
                <a:latin typeface="Calibri"/>
                <a:ea typeface="Calibri"/>
              </a:rPr>
              <a:t>2504070500009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3"/>
          <p:cNvSpPr/>
          <p:nvPr/>
        </p:nvSpPr>
        <p:spPr>
          <a:xfrm>
            <a:off x="3200400" y="2560320"/>
            <a:ext cx="5760360" cy="685440"/>
          </a:xfrm>
          <a:prstGeom prst="rect">
            <a:avLst/>
          </a:prstGeom>
          <a:solidFill>
            <a:srgbClr val="f4f7fc"/>
          </a:solidFill>
          <a:ln w="1016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3200400" y="2560320"/>
            <a:ext cx="72720" cy="685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3383280" y="259704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6070"/>
                </a:solidFill>
                <a:latin typeface="Calibri"/>
                <a:ea typeface="Calibri"/>
              </a:rPr>
              <a:t>Department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6"/>
          <p:cNvSpPr/>
          <p:nvPr/>
        </p:nvSpPr>
        <p:spPr>
          <a:xfrm>
            <a:off x="3383280" y="28803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2e"/>
                </a:solidFill>
                <a:latin typeface="Calibri"/>
                <a:ea typeface="Calibri"/>
              </a:rPr>
              <a:t>MSc / Data Science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7"/>
          <p:cNvSpPr/>
          <p:nvPr/>
        </p:nvSpPr>
        <p:spPr>
          <a:xfrm>
            <a:off x="3200400" y="3383280"/>
            <a:ext cx="5760360" cy="685440"/>
          </a:xfrm>
          <a:prstGeom prst="rect">
            <a:avLst/>
          </a:prstGeom>
          <a:solidFill>
            <a:srgbClr val="f4f7fc"/>
          </a:solidFill>
          <a:ln w="1016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3200400" y="3383280"/>
            <a:ext cx="72720" cy="685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9"/>
          <p:cNvSpPr/>
          <p:nvPr/>
        </p:nvSpPr>
        <p:spPr>
          <a:xfrm>
            <a:off x="3383280" y="34200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6070"/>
                </a:solidFill>
                <a:latin typeface="Calibri"/>
                <a:ea typeface="Calibri"/>
              </a:rPr>
              <a:t>Semester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20"/>
          <p:cNvSpPr/>
          <p:nvPr/>
        </p:nvSpPr>
        <p:spPr>
          <a:xfrm>
            <a:off x="3383280" y="37033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2e"/>
                </a:solidFill>
                <a:latin typeface="Calibri"/>
                <a:ea typeface="Calibri"/>
              </a:rPr>
              <a:t>2nd Semester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21"/>
          <p:cNvSpPr/>
          <p:nvPr/>
        </p:nvSpPr>
        <p:spPr>
          <a:xfrm>
            <a:off x="3200400" y="4343400"/>
            <a:ext cx="5760360" cy="548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2"/>
          <p:cNvSpPr/>
          <p:nvPr/>
        </p:nvSpPr>
        <p:spPr>
          <a:xfrm>
            <a:off x="3246120" y="434340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Topic: Data Quality Maintenance Tool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3"/>
          <p:cNvSpPr/>
          <p:nvPr/>
        </p:nvSpPr>
        <p:spPr>
          <a:xfrm>
            <a:off x="0" y="5047560"/>
            <a:ext cx="9143640" cy="91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"/>
          <p:cNvSpPr/>
          <p:nvPr/>
        </p:nvSpPr>
        <p:spPr>
          <a:xfrm>
            <a:off x="0" y="0"/>
            <a:ext cx="109440" cy="685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228600" y="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c2c54"/>
                </a:solidFill>
                <a:latin typeface="Calibri"/>
                <a:ea typeface="Calibri"/>
              </a:rPr>
              <a:t>01  |  Introduction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6858000" y="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Data Quality Maintenance Tool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>
            <a:off x="0" y="5047560"/>
            <a:ext cx="9143640" cy="91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5"/>
          <p:cNvSpPr/>
          <p:nvPr/>
        </p:nvSpPr>
        <p:spPr>
          <a:xfrm>
            <a:off x="274320" y="804600"/>
            <a:ext cx="5028840" cy="868320"/>
          </a:xfrm>
          <a:prstGeom prst="rect">
            <a:avLst/>
          </a:prstGeom>
          <a:solidFill>
            <a:srgbClr val="f4f7fc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6"/>
          <p:cNvSpPr/>
          <p:nvPr/>
        </p:nvSpPr>
        <p:spPr>
          <a:xfrm>
            <a:off x="274320" y="804600"/>
            <a:ext cx="91080" cy="868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475560" y="85032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565c0"/>
                </a:solidFill>
                <a:latin typeface="Calibri"/>
                <a:ea typeface="Calibri"/>
              </a:rPr>
              <a:t>What is it?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475560" y="1152000"/>
            <a:ext cx="4754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A comprehensive, interactive web-based application for auditing and preprocessing datasets before machine learning or data analysis workflows.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274320" y="1783080"/>
            <a:ext cx="5028840" cy="868320"/>
          </a:xfrm>
          <a:prstGeom prst="rect">
            <a:avLst/>
          </a:prstGeom>
          <a:solidFill>
            <a:srgbClr val="f4f7fc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0"/>
          <p:cNvSpPr/>
          <p:nvPr/>
        </p:nvSpPr>
        <p:spPr>
          <a:xfrm>
            <a:off x="274320" y="1783080"/>
            <a:ext cx="91080" cy="868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475560" y="182880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62828"/>
                </a:solidFill>
                <a:latin typeface="Calibri"/>
                <a:ea typeface="Calibri"/>
              </a:rPr>
              <a:t>The Problem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475560" y="2130480"/>
            <a:ext cx="4754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Real-world datasets contain missing values, duplicate records, outliers, and inconsistent formats that directly degrade model performance and analysis accuracy.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3"/>
          <p:cNvSpPr/>
          <p:nvPr/>
        </p:nvSpPr>
        <p:spPr>
          <a:xfrm>
            <a:off x="274320" y="2761560"/>
            <a:ext cx="5028840" cy="868320"/>
          </a:xfrm>
          <a:prstGeom prst="rect">
            <a:avLst/>
          </a:prstGeom>
          <a:solidFill>
            <a:srgbClr val="f4f7fc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4"/>
          <p:cNvSpPr/>
          <p:nvPr/>
        </p:nvSpPr>
        <p:spPr>
          <a:xfrm>
            <a:off x="274320" y="2761560"/>
            <a:ext cx="91080" cy="868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475560" y="280728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e7d32"/>
                </a:solidFill>
                <a:latin typeface="Calibri"/>
                <a:ea typeface="Calibri"/>
              </a:rPr>
              <a:t>Our Solution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6"/>
          <p:cNvSpPr/>
          <p:nvPr/>
        </p:nvSpPr>
        <p:spPr>
          <a:xfrm>
            <a:off x="475560" y="3108960"/>
            <a:ext cx="4754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A unified 6-step preprocessing pipeline that guides users from raw data upload to clean, export-ready CSV — with zero coding required.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7"/>
          <p:cNvSpPr/>
          <p:nvPr/>
        </p:nvSpPr>
        <p:spPr>
          <a:xfrm>
            <a:off x="274320" y="3740040"/>
            <a:ext cx="5028840" cy="868320"/>
          </a:xfrm>
          <a:prstGeom prst="rect">
            <a:avLst/>
          </a:prstGeom>
          <a:solidFill>
            <a:srgbClr val="f4f7fc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8"/>
          <p:cNvSpPr/>
          <p:nvPr/>
        </p:nvSpPr>
        <p:spPr>
          <a:xfrm>
            <a:off x="274320" y="3740040"/>
            <a:ext cx="91080" cy="868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9"/>
          <p:cNvSpPr/>
          <p:nvPr/>
        </p:nvSpPr>
        <p:spPr>
          <a:xfrm>
            <a:off x="475560" y="378576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65100"/>
                </a:solidFill>
                <a:latin typeface="Calibri"/>
                <a:ea typeface="Calibri"/>
              </a:rPr>
              <a:t>Built With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0"/>
          <p:cNvSpPr/>
          <p:nvPr/>
        </p:nvSpPr>
        <p:spPr>
          <a:xfrm>
            <a:off x="475560" y="4087440"/>
            <a:ext cx="4754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Python  ·  Streamlit  ·  Pandas  ·  Scikit-learn  ·  Plotly  —  packaged as a single-file application.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1"/>
          <p:cNvSpPr/>
          <p:nvPr/>
        </p:nvSpPr>
        <p:spPr>
          <a:xfrm>
            <a:off x="5532120" y="804600"/>
            <a:ext cx="3382920" cy="2331360"/>
          </a:xfrm>
          <a:prstGeom prst="rect">
            <a:avLst/>
          </a:prstGeom>
          <a:solidFill>
            <a:srgbClr val="f4f7fc"/>
          </a:solidFill>
          <a:ln w="1016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2"/>
          <p:cNvSpPr/>
          <p:nvPr/>
        </p:nvSpPr>
        <p:spPr>
          <a:xfrm>
            <a:off x="5577840" y="82296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  <a:ea typeface="Calibri"/>
              </a:rPr>
              <a:t>App Screenshot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0" descr="/home/claude/img9.png"/>
          <p:cNvPicPr/>
          <p:nvPr/>
        </p:nvPicPr>
        <p:blipFill>
          <a:blip r:embed="rId1"/>
          <a:stretch/>
        </p:blipFill>
        <p:spPr>
          <a:xfrm>
            <a:off x="5577840" y="1115640"/>
            <a:ext cx="3291480" cy="1992960"/>
          </a:xfrm>
          <a:prstGeom prst="rect">
            <a:avLst/>
          </a:prstGeom>
          <a:ln w="0">
            <a:noFill/>
          </a:ln>
        </p:spPr>
      </p:pic>
      <p:sp>
        <p:nvSpPr>
          <p:cNvPr id="92" name="Shape 23"/>
          <p:cNvSpPr/>
          <p:nvPr/>
        </p:nvSpPr>
        <p:spPr>
          <a:xfrm>
            <a:off x="5532120" y="3273480"/>
            <a:ext cx="804240" cy="712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5532120" y="3291840"/>
            <a:ext cx="804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28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5"/>
          <p:cNvSpPr/>
          <p:nvPr/>
        </p:nvSpPr>
        <p:spPr>
          <a:xfrm>
            <a:off x="5532120" y="3675960"/>
            <a:ext cx="80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Rows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26"/>
          <p:cNvSpPr/>
          <p:nvPr/>
        </p:nvSpPr>
        <p:spPr>
          <a:xfrm>
            <a:off x="6409800" y="3273480"/>
            <a:ext cx="804240" cy="712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27"/>
          <p:cNvSpPr/>
          <p:nvPr/>
        </p:nvSpPr>
        <p:spPr>
          <a:xfrm>
            <a:off x="6409800" y="3291840"/>
            <a:ext cx="804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28"/>
          <p:cNvSpPr/>
          <p:nvPr/>
        </p:nvSpPr>
        <p:spPr>
          <a:xfrm>
            <a:off x="6409800" y="3675960"/>
            <a:ext cx="80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Cols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9"/>
          <p:cNvSpPr/>
          <p:nvPr/>
        </p:nvSpPr>
        <p:spPr>
          <a:xfrm>
            <a:off x="7287840" y="3273480"/>
            <a:ext cx="804240" cy="712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30"/>
          <p:cNvSpPr/>
          <p:nvPr/>
        </p:nvSpPr>
        <p:spPr>
          <a:xfrm>
            <a:off x="7287840" y="3291840"/>
            <a:ext cx="804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31"/>
          <p:cNvSpPr/>
          <p:nvPr/>
        </p:nvSpPr>
        <p:spPr>
          <a:xfrm>
            <a:off x="7287840" y="3675960"/>
            <a:ext cx="80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Steps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32"/>
          <p:cNvSpPr/>
          <p:nvPr/>
        </p:nvSpPr>
        <p:spPr>
          <a:xfrm>
            <a:off x="8165520" y="3273480"/>
            <a:ext cx="804240" cy="712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33"/>
          <p:cNvSpPr/>
          <p:nvPr/>
        </p:nvSpPr>
        <p:spPr>
          <a:xfrm>
            <a:off x="8165520" y="3291840"/>
            <a:ext cx="804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34"/>
          <p:cNvSpPr/>
          <p:nvPr/>
        </p:nvSpPr>
        <p:spPr>
          <a:xfrm>
            <a:off x="8165520" y="3675960"/>
            <a:ext cx="80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Formats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"/>
          <p:cNvSpPr/>
          <p:nvPr/>
        </p:nvSpPr>
        <p:spPr>
          <a:xfrm>
            <a:off x="0" y="0"/>
            <a:ext cx="109440" cy="685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228600" y="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c2c54"/>
                </a:solidFill>
                <a:latin typeface="Calibri"/>
                <a:ea typeface="Calibri"/>
              </a:rPr>
              <a:t>02  |  Abstract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6858000" y="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Data Quality Maintenance Tool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4"/>
          <p:cNvSpPr/>
          <p:nvPr/>
        </p:nvSpPr>
        <p:spPr>
          <a:xfrm>
            <a:off x="0" y="5047560"/>
            <a:ext cx="9143640" cy="91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5"/>
          <p:cNvSpPr/>
          <p:nvPr/>
        </p:nvSpPr>
        <p:spPr>
          <a:xfrm>
            <a:off x="274320" y="804600"/>
            <a:ext cx="8595000" cy="1142640"/>
          </a:xfrm>
          <a:prstGeom prst="rect">
            <a:avLst/>
          </a:prstGeom>
          <a:solidFill>
            <a:srgbClr val="eaf0fb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411480" y="859680"/>
            <a:ext cx="8320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565c0"/>
                </a:solidFill>
                <a:latin typeface="Calibri"/>
                <a:ea typeface="Calibri"/>
              </a:rPr>
              <a:t>The Data Quality Maintenance Tool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is a Streamlit-based interactive application that streamlines the data preprocessing pipeline for data scientists and analysts. It provides an end-to-end solution for ingesting raw datasets, analyzing quality issues, and applying structured transformations — all within a unified, no-code interface.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274320" y="2084760"/>
            <a:ext cx="4160160" cy="1188360"/>
          </a:xfrm>
          <a:prstGeom prst="rect">
            <a:avLst/>
          </a:prstGeom>
          <a:solidFill>
            <a:srgbClr val="f4f7fc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8"/>
          <p:cNvSpPr/>
          <p:nvPr/>
        </p:nvSpPr>
        <p:spPr>
          <a:xfrm>
            <a:off x="274320" y="2084760"/>
            <a:ext cx="91080" cy="1188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457200" y="2157840"/>
            <a:ext cx="3885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565c0"/>
                </a:solidFill>
                <a:latin typeface="Calibri"/>
                <a:ea typeface="Calibri"/>
              </a:rPr>
              <a:t>Quality Scoring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457200" y="2505600"/>
            <a:ext cx="38858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Auto-calculates a data quality grade (A–F) based on completeness, duplicates, and outlier density.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11"/>
          <p:cNvSpPr/>
          <p:nvPr/>
        </p:nvSpPr>
        <p:spPr>
          <a:xfrm>
            <a:off x="4709160" y="2084760"/>
            <a:ext cx="4160160" cy="1188360"/>
          </a:xfrm>
          <a:prstGeom prst="rect">
            <a:avLst/>
          </a:prstGeom>
          <a:solidFill>
            <a:srgbClr val="f4f7fc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12"/>
          <p:cNvSpPr/>
          <p:nvPr/>
        </p:nvSpPr>
        <p:spPr>
          <a:xfrm>
            <a:off x="4709160" y="2084760"/>
            <a:ext cx="91080" cy="1188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4892040" y="2157840"/>
            <a:ext cx="3885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62828"/>
                </a:solidFill>
                <a:latin typeface="Calibri"/>
                <a:ea typeface="Calibri"/>
              </a:rPr>
              <a:t>Issue Detection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4892040" y="2505600"/>
            <a:ext cx="38858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Identifies missing values, duplicates, statistical outliers (IQR), and type inconsistencies per column.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5"/>
          <p:cNvSpPr/>
          <p:nvPr/>
        </p:nvSpPr>
        <p:spPr>
          <a:xfrm>
            <a:off x="274320" y="3410640"/>
            <a:ext cx="4160160" cy="1188360"/>
          </a:xfrm>
          <a:prstGeom prst="rect">
            <a:avLst/>
          </a:prstGeom>
          <a:solidFill>
            <a:srgbClr val="f4f7fc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6"/>
          <p:cNvSpPr/>
          <p:nvPr/>
        </p:nvSpPr>
        <p:spPr>
          <a:xfrm>
            <a:off x="274320" y="3410640"/>
            <a:ext cx="91080" cy="1188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7"/>
          <p:cNvSpPr/>
          <p:nvPr/>
        </p:nvSpPr>
        <p:spPr>
          <a:xfrm>
            <a:off x="457200" y="3483720"/>
            <a:ext cx="3885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e7d32"/>
                </a:solidFill>
                <a:latin typeface="Calibri"/>
                <a:ea typeface="Calibri"/>
              </a:rPr>
              <a:t>6-Step Pipeline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8"/>
          <p:cNvSpPr/>
          <p:nvPr/>
        </p:nvSpPr>
        <p:spPr>
          <a:xfrm>
            <a:off x="457200" y="3831480"/>
            <a:ext cx="38858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Guided preprocessing: deduplication → imputation → categorical cleaning → encoding → outlier handling → scaling.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9"/>
          <p:cNvSpPr/>
          <p:nvPr/>
        </p:nvSpPr>
        <p:spPr>
          <a:xfrm>
            <a:off x="4709160" y="3410640"/>
            <a:ext cx="4160160" cy="1188360"/>
          </a:xfrm>
          <a:prstGeom prst="rect">
            <a:avLst/>
          </a:prstGeom>
          <a:solidFill>
            <a:srgbClr val="f4f7fc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20"/>
          <p:cNvSpPr/>
          <p:nvPr/>
        </p:nvSpPr>
        <p:spPr>
          <a:xfrm>
            <a:off x="4709160" y="3410640"/>
            <a:ext cx="91080" cy="1188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21"/>
          <p:cNvSpPr/>
          <p:nvPr/>
        </p:nvSpPr>
        <p:spPr>
          <a:xfrm>
            <a:off x="4892040" y="3483720"/>
            <a:ext cx="3885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65100"/>
                </a:solidFill>
                <a:latin typeface="Calibri"/>
                <a:ea typeface="Calibri"/>
              </a:rPr>
              <a:t>Export Ready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22"/>
          <p:cNvSpPr/>
          <p:nvPr/>
        </p:nvSpPr>
        <p:spPr>
          <a:xfrm>
            <a:off x="4892040" y="3831480"/>
            <a:ext cx="38858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Download the cleaned, preprocessed dataset as a CSV file, ready for immediate use in ML pipelines or BI tools.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"/>
          <p:cNvSpPr/>
          <p:nvPr/>
        </p:nvSpPr>
        <p:spPr>
          <a:xfrm>
            <a:off x="0" y="0"/>
            <a:ext cx="109440" cy="685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228600" y="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c2c54"/>
                </a:solidFill>
                <a:latin typeface="Calibri"/>
                <a:ea typeface="Calibri"/>
              </a:rPr>
              <a:t>03  |  Objectives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6858000" y="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Data Quality Maintenance Tool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0" y="5047560"/>
            <a:ext cx="9143640" cy="91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274320" y="822960"/>
            <a:ext cx="4160160" cy="1261440"/>
          </a:xfrm>
          <a:prstGeom prst="rect">
            <a:avLst/>
          </a:prstGeom>
          <a:solidFill>
            <a:srgbClr val="f4f7fc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274320" y="822960"/>
            <a:ext cx="91080" cy="126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475560" y="951120"/>
            <a:ext cx="402120" cy="4021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475560" y="9511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987480" y="91440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565c0"/>
                </a:solidFill>
                <a:latin typeface="Calibri"/>
                <a:ea typeface="Calibri"/>
              </a:rPr>
              <a:t>No-Code Preprocessing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987480" y="128016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Provide a user-friendly interface to clean and preprocess datasets without any programming knowledge.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4709160" y="822960"/>
            <a:ext cx="4160160" cy="1261440"/>
          </a:xfrm>
          <a:prstGeom prst="rect">
            <a:avLst/>
          </a:prstGeom>
          <a:solidFill>
            <a:srgbClr val="f4f7fc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4709160" y="822960"/>
            <a:ext cx="91080" cy="126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4910400" y="951120"/>
            <a:ext cx="402120" cy="4021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4910400" y="9511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5422320" y="91440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e7d32"/>
                </a:solidFill>
                <a:latin typeface="Calibri"/>
                <a:ea typeface="Calibri"/>
              </a:rPr>
              <a:t>Data Quality Auditing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5422320" y="128016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Automatically score and grade data quality by detecting missing values, duplicates, and outliers across all columns.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274320" y="2212920"/>
            <a:ext cx="4160160" cy="1261440"/>
          </a:xfrm>
          <a:prstGeom prst="rect">
            <a:avLst/>
          </a:prstGeom>
          <a:solidFill>
            <a:srgbClr val="f4f7fc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8"/>
          <p:cNvSpPr/>
          <p:nvPr/>
        </p:nvSpPr>
        <p:spPr>
          <a:xfrm>
            <a:off x="274320" y="2212920"/>
            <a:ext cx="91080" cy="126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9"/>
          <p:cNvSpPr/>
          <p:nvPr/>
        </p:nvSpPr>
        <p:spPr>
          <a:xfrm>
            <a:off x="475560" y="2340720"/>
            <a:ext cx="402120" cy="4021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475560" y="23407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21"/>
          <p:cNvSpPr/>
          <p:nvPr/>
        </p:nvSpPr>
        <p:spPr>
          <a:xfrm>
            <a:off x="987480" y="230436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62828"/>
                </a:solidFill>
                <a:latin typeface="Calibri"/>
                <a:ea typeface="Calibri"/>
              </a:rPr>
              <a:t>6-Step Pipeline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22"/>
          <p:cNvSpPr/>
          <p:nvPr/>
        </p:nvSpPr>
        <p:spPr>
          <a:xfrm>
            <a:off x="987480" y="267012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Guide users through a logical sequence: deduplication → imputation → categorical cleaning → encoding → outlier handling → scaling.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3"/>
          <p:cNvSpPr/>
          <p:nvPr/>
        </p:nvSpPr>
        <p:spPr>
          <a:xfrm>
            <a:off x="4709160" y="2212920"/>
            <a:ext cx="4160160" cy="1261440"/>
          </a:xfrm>
          <a:prstGeom prst="rect">
            <a:avLst/>
          </a:prstGeom>
          <a:solidFill>
            <a:srgbClr val="f4f7fc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4"/>
          <p:cNvSpPr/>
          <p:nvPr/>
        </p:nvSpPr>
        <p:spPr>
          <a:xfrm>
            <a:off x="4709160" y="2212920"/>
            <a:ext cx="91080" cy="1261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5"/>
          <p:cNvSpPr/>
          <p:nvPr/>
        </p:nvSpPr>
        <p:spPr>
          <a:xfrm>
            <a:off x="4910400" y="2340720"/>
            <a:ext cx="402120" cy="4021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6"/>
          <p:cNvSpPr/>
          <p:nvPr/>
        </p:nvSpPr>
        <p:spPr>
          <a:xfrm>
            <a:off x="4910400" y="23407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7"/>
          <p:cNvSpPr/>
          <p:nvPr/>
        </p:nvSpPr>
        <p:spPr>
          <a:xfrm>
            <a:off x="5422320" y="230436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65100"/>
                </a:solidFill>
                <a:latin typeface="Calibri"/>
                <a:ea typeface="Calibri"/>
              </a:rPr>
              <a:t>Visual Analytics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8"/>
          <p:cNvSpPr/>
          <p:nvPr/>
        </p:nvSpPr>
        <p:spPr>
          <a:xfrm>
            <a:off x="5422320" y="267012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Offer interactive visualizations including histograms, bar charts, correlation heatmaps, and distribution plots.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29"/>
          <p:cNvSpPr/>
          <p:nvPr/>
        </p:nvSpPr>
        <p:spPr>
          <a:xfrm>
            <a:off x="274320" y="3602880"/>
            <a:ext cx="4160160" cy="1261440"/>
          </a:xfrm>
          <a:prstGeom prst="rect">
            <a:avLst/>
          </a:prstGeom>
          <a:solidFill>
            <a:srgbClr val="f4f7fc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0"/>
          <p:cNvSpPr/>
          <p:nvPr/>
        </p:nvSpPr>
        <p:spPr>
          <a:xfrm>
            <a:off x="274320" y="3602880"/>
            <a:ext cx="91080" cy="1261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31"/>
          <p:cNvSpPr/>
          <p:nvPr/>
        </p:nvSpPr>
        <p:spPr>
          <a:xfrm>
            <a:off x="475560" y="3730680"/>
            <a:ext cx="402120" cy="4021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2"/>
          <p:cNvSpPr/>
          <p:nvPr/>
        </p:nvSpPr>
        <p:spPr>
          <a:xfrm>
            <a:off x="475560" y="373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33"/>
          <p:cNvSpPr/>
          <p:nvPr/>
        </p:nvSpPr>
        <p:spPr>
          <a:xfrm>
            <a:off x="987480" y="369432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6a1b9a"/>
                </a:solidFill>
                <a:latin typeface="Calibri"/>
                <a:ea typeface="Calibri"/>
              </a:rPr>
              <a:t>Dataset Export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34"/>
          <p:cNvSpPr/>
          <p:nvPr/>
        </p:nvSpPr>
        <p:spPr>
          <a:xfrm>
            <a:off x="987480" y="406008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Allow users to download the fully processed, clean dataset for direct use in machine learning or business intelligence tools.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35"/>
          <p:cNvSpPr/>
          <p:nvPr/>
        </p:nvSpPr>
        <p:spPr>
          <a:xfrm>
            <a:off x="4709160" y="3602880"/>
            <a:ext cx="4160160" cy="1261440"/>
          </a:xfrm>
          <a:prstGeom prst="rect">
            <a:avLst/>
          </a:prstGeom>
          <a:solidFill>
            <a:srgbClr val="f4f7fc"/>
          </a:solidFill>
          <a:ln w="889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36"/>
          <p:cNvSpPr/>
          <p:nvPr/>
        </p:nvSpPr>
        <p:spPr>
          <a:xfrm>
            <a:off x="4709160" y="3602880"/>
            <a:ext cx="91080" cy="126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37"/>
          <p:cNvSpPr/>
          <p:nvPr/>
        </p:nvSpPr>
        <p:spPr>
          <a:xfrm>
            <a:off x="4910400" y="3730680"/>
            <a:ext cx="402120" cy="4021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38"/>
          <p:cNvSpPr/>
          <p:nvPr/>
        </p:nvSpPr>
        <p:spPr>
          <a:xfrm>
            <a:off x="4910400" y="373068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39"/>
          <p:cNvSpPr/>
          <p:nvPr/>
        </p:nvSpPr>
        <p:spPr>
          <a:xfrm>
            <a:off x="5422320" y="3694320"/>
            <a:ext cx="3337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565c0"/>
                </a:solidFill>
                <a:latin typeface="Calibri"/>
                <a:ea typeface="Calibri"/>
              </a:rPr>
              <a:t>Multi-Format Support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40"/>
          <p:cNvSpPr/>
          <p:nvPr/>
        </p:nvSpPr>
        <p:spPr>
          <a:xfrm>
            <a:off x="5422320" y="406008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Handle CSV, TSV, Excel (.xlsx/.xls), and JSON file formats within a single unified upload interface.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0" y="0"/>
            <a:ext cx="109440" cy="685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228600" y="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c2c54"/>
                </a:solidFill>
                <a:latin typeface="Calibri"/>
                <a:ea typeface="Calibri"/>
              </a:rPr>
              <a:t>04  |  Workflow Diagram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6858000" y="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Data Quality Maintenance Tool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4"/>
          <p:cNvSpPr/>
          <p:nvPr/>
        </p:nvSpPr>
        <p:spPr>
          <a:xfrm>
            <a:off x="0" y="5047560"/>
            <a:ext cx="9143640" cy="91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475560" y="749880"/>
            <a:ext cx="475200" cy="475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475560" y="749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7"/>
          <p:cNvSpPr/>
          <p:nvPr/>
        </p:nvSpPr>
        <p:spPr>
          <a:xfrm>
            <a:off x="228600" y="1280160"/>
            <a:ext cx="1572480" cy="868320"/>
          </a:xfrm>
          <a:prstGeom prst="rect">
            <a:avLst/>
          </a:prstGeom>
          <a:solidFill>
            <a:srgbClr val="f4f7fc"/>
          </a:solidFill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8"/>
          <p:cNvSpPr/>
          <p:nvPr/>
        </p:nvSpPr>
        <p:spPr>
          <a:xfrm>
            <a:off x="274320" y="1316880"/>
            <a:ext cx="1481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Upload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Dataset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9"/>
          <p:cNvSpPr/>
          <p:nvPr/>
        </p:nvSpPr>
        <p:spPr>
          <a:xfrm>
            <a:off x="274320" y="1755720"/>
            <a:ext cx="1481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CSV / TSV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XLSX / JSON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0"/>
          <p:cNvSpPr/>
          <p:nvPr/>
        </p:nvSpPr>
        <p:spPr>
          <a:xfrm>
            <a:off x="1801080" y="1719000"/>
            <a:ext cx="246960" cy="360"/>
          </a:xfrm>
          <a:prstGeom prst="line">
            <a:avLst/>
          </a:prstGeom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1"/>
          <p:cNvSpPr/>
          <p:nvPr/>
        </p:nvSpPr>
        <p:spPr>
          <a:xfrm>
            <a:off x="1947600" y="1581840"/>
            <a:ext cx="200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▶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2"/>
          <p:cNvSpPr/>
          <p:nvPr/>
        </p:nvSpPr>
        <p:spPr>
          <a:xfrm>
            <a:off x="2295000" y="749880"/>
            <a:ext cx="475200" cy="475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3"/>
          <p:cNvSpPr/>
          <p:nvPr/>
        </p:nvSpPr>
        <p:spPr>
          <a:xfrm>
            <a:off x="2295000" y="749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4"/>
          <p:cNvSpPr/>
          <p:nvPr/>
        </p:nvSpPr>
        <p:spPr>
          <a:xfrm>
            <a:off x="2048400" y="1280160"/>
            <a:ext cx="1572480" cy="868320"/>
          </a:xfrm>
          <a:prstGeom prst="rect">
            <a:avLst/>
          </a:prstGeom>
          <a:solidFill>
            <a:srgbClr val="f4f7fc"/>
          </a:solidFill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5"/>
          <p:cNvSpPr/>
          <p:nvPr/>
        </p:nvSpPr>
        <p:spPr>
          <a:xfrm>
            <a:off x="2094120" y="1316880"/>
            <a:ext cx="1481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Quality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Audit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2094120" y="1755720"/>
            <a:ext cx="1481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Score &amp; grade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issues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3620880" y="1719000"/>
            <a:ext cx="246960" cy="360"/>
          </a:xfrm>
          <a:prstGeom prst="line">
            <a:avLst/>
          </a:prstGeom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8"/>
          <p:cNvSpPr/>
          <p:nvPr/>
        </p:nvSpPr>
        <p:spPr>
          <a:xfrm>
            <a:off x="3767400" y="1581840"/>
            <a:ext cx="200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▶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9"/>
          <p:cNvSpPr/>
          <p:nvPr/>
        </p:nvSpPr>
        <p:spPr>
          <a:xfrm>
            <a:off x="4114800" y="749880"/>
            <a:ext cx="475200" cy="4752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20"/>
          <p:cNvSpPr/>
          <p:nvPr/>
        </p:nvSpPr>
        <p:spPr>
          <a:xfrm>
            <a:off x="4114800" y="749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1"/>
          <p:cNvSpPr/>
          <p:nvPr/>
        </p:nvSpPr>
        <p:spPr>
          <a:xfrm>
            <a:off x="3867840" y="1280160"/>
            <a:ext cx="1572480" cy="868320"/>
          </a:xfrm>
          <a:prstGeom prst="rect">
            <a:avLst/>
          </a:prstGeom>
          <a:solidFill>
            <a:srgbClr val="f4f7fc"/>
          </a:solidFill>
          <a:ln w="1905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2"/>
          <p:cNvSpPr/>
          <p:nvPr/>
        </p:nvSpPr>
        <p:spPr>
          <a:xfrm>
            <a:off x="3913560" y="1316880"/>
            <a:ext cx="1481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Remove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Duplicates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23"/>
          <p:cNvSpPr/>
          <p:nvPr/>
        </p:nvSpPr>
        <p:spPr>
          <a:xfrm>
            <a:off x="3913560" y="1755720"/>
            <a:ext cx="1481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Step 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Deduplicate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4"/>
          <p:cNvSpPr/>
          <p:nvPr/>
        </p:nvSpPr>
        <p:spPr>
          <a:xfrm>
            <a:off x="5440680" y="1719000"/>
            <a:ext cx="246600" cy="360"/>
          </a:xfrm>
          <a:prstGeom prst="line">
            <a:avLst/>
          </a:prstGeom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5"/>
          <p:cNvSpPr/>
          <p:nvPr/>
        </p:nvSpPr>
        <p:spPr>
          <a:xfrm>
            <a:off x="5586840" y="1581840"/>
            <a:ext cx="200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▶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6"/>
          <p:cNvSpPr/>
          <p:nvPr/>
        </p:nvSpPr>
        <p:spPr>
          <a:xfrm>
            <a:off x="5934600" y="749880"/>
            <a:ext cx="475200" cy="475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27"/>
          <p:cNvSpPr/>
          <p:nvPr/>
        </p:nvSpPr>
        <p:spPr>
          <a:xfrm>
            <a:off x="5934600" y="749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8"/>
          <p:cNvSpPr/>
          <p:nvPr/>
        </p:nvSpPr>
        <p:spPr>
          <a:xfrm>
            <a:off x="5687640" y="1280160"/>
            <a:ext cx="1572480" cy="868320"/>
          </a:xfrm>
          <a:prstGeom prst="rect">
            <a:avLst/>
          </a:prstGeom>
          <a:solidFill>
            <a:srgbClr val="f4f7fc"/>
          </a:solidFill>
          <a:ln w="1905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9"/>
          <p:cNvSpPr/>
          <p:nvPr/>
        </p:nvSpPr>
        <p:spPr>
          <a:xfrm>
            <a:off x="5733360" y="1316880"/>
            <a:ext cx="1481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Missing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Values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30"/>
          <p:cNvSpPr/>
          <p:nvPr/>
        </p:nvSpPr>
        <p:spPr>
          <a:xfrm>
            <a:off x="5733360" y="1755720"/>
            <a:ext cx="1481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Step 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Imputation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31"/>
          <p:cNvSpPr/>
          <p:nvPr/>
        </p:nvSpPr>
        <p:spPr>
          <a:xfrm>
            <a:off x="7260120" y="1719000"/>
            <a:ext cx="246960" cy="360"/>
          </a:xfrm>
          <a:prstGeom prst="line">
            <a:avLst/>
          </a:prstGeom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32"/>
          <p:cNvSpPr/>
          <p:nvPr/>
        </p:nvSpPr>
        <p:spPr>
          <a:xfrm>
            <a:off x="7406640" y="1581840"/>
            <a:ext cx="200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▶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33"/>
          <p:cNvSpPr/>
          <p:nvPr/>
        </p:nvSpPr>
        <p:spPr>
          <a:xfrm>
            <a:off x="7754040" y="749880"/>
            <a:ext cx="475200" cy="475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34"/>
          <p:cNvSpPr/>
          <p:nvPr/>
        </p:nvSpPr>
        <p:spPr>
          <a:xfrm>
            <a:off x="7754040" y="749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35"/>
          <p:cNvSpPr/>
          <p:nvPr/>
        </p:nvSpPr>
        <p:spPr>
          <a:xfrm>
            <a:off x="7507080" y="1280160"/>
            <a:ext cx="1572480" cy="868320"/>
          </a:xfrm>
          <a:prstGeom prst="rect">
            <a:avLst/>
          </a:prstGeom>
          <a:solidFill>
            <a:srgbClr val="f4f7fc"/>
          </a:solidFill>
          <a:ln w="1905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36"/>
          <p:cNvSpPr/>
          <p:nvPr/>
        </p:nvSpPr>
        <p:spPr>
          <a:xfrm>
            <a:off x="7552800" y="1316880"/>
            <a:ext cx="1481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Categorical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Cleaning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37"/>
          <p:cNvSpPr/>
          <p:nvPr/>
        </p:nvSpPr>
        <p:spPr>
          <a:xfrm>
            <a:off x="7552800" y="1755720"/>
            <a:ext cx="1481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Step 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Normalize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39"/>
          <p:cNvSpPr/>
          <p:nvPr/>
        </p:nvSpPr>
        <p:spPr>
          <a:xfrm>
            <a:off x="8778240" y="294444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40"/>
          <p:cNvSpPr/>
          <p:nvPr/>
        </p:nvSpPr>
        <p:spPr>
          <a:xfrm>
            <a:off x="5934600" y="3127320"/>
            <a:ext cx="475200" cy="475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41"/>
          <p:cNvSpPr/>
          <p:nvPr/>
        </p:nvSpPr>
        <p:spPr>
          <a:xfrm>
            <a:off x="5934600" y="31273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9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42"/>
          <p:cNvSpPr/>
          <p:nvPr/>
        </p:nvSpPr>
        <p:spPr>
          <a:xfrm>
            <a:off x="5687640" y="3657600"/>
            <a:ext cx="1572480" cy="868320"/>
          </a:xfrm>
          <a:prstGeom prst="rect">
            <a:avLst/>
          </a:prstGeom>
          <a:solidFill>
            <a:srgbClr val="f4f7fc"/>
          </a:solidFill>
          <a:ln w="1905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43"/>
          <p:cNvSpPr/>
          <p:nvPr/>
        </p:nvSpPr>
        <p:spPr>
          <a:xfrm>
            <a:off x="5733360" y="3694320"/>
            <a:ext cx="1481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Preview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&amp; Export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44"/>
          <p:cNvSpPr/>
          <p:nvPr/>
        </p:nvSpPr>
        <p:spPr>
          <a:xfrm>
            <a:off x="5733360" y="4133160"/>
            <a:ext cx="1481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Download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Clean CSV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45"/>
          <p:cNvSpPr/>
          <p:nvPr/>
        </p:nvSpPr>
        <p:spPr>
          <a:xfrm>
            <a:off x="5440680" y="4096440"/>
            <a:ext cx="246600" cy="360"/>
          </a:xfrm>
          <a:prstGeom prst="line">
            <a:avLst/>
          </a:prstGeom>
          <a:ln w="1905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46"/>
          <p:cNvSpPr/>
          <p:nvPr/>
        </p:nvSpPr>
        <p:spPr>
          <a:xfrm>
            <a:off x="5586840" y="3959280"/>
            <a:ext cx="200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47"/>
          <p:cNvSpPr/>
          <p:nvPr/>
        </p:nvSpPr>
        <p:spPr>
          <a:xfrm>
            <a:off x="4114800" y="3127320"/>
            <a:ext cx="475200" cy="4752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48"/>
          <p:cNvSpPr/>
          <p:nvPr/>
        </p:nvSpPr>
        <p:spPr>
          <a:xfrm>
            <a:off x="4114800" y="31273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49"/>
          <p:cNvSpPr/>
          <p:nvPr/>
        </p:nvSpPr>
        <p:spPr>
          <a:xfrm>
            <a:off x="3867840" y="3657600"/>
            <a:ext cx="1572480" cy="868320"/>
          </a:xfrm>
          <a:prstGeom prst="rect">
            <a:avLst/>
          </a:prstGeom>
          <a:solidFill>
            <a:srgbClr val="f4f7fc"/>
          </a:solidFill>
          <a:ln w="1905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50"/>
          <p:cNvSpPr/>
          <p:nvPr/>
        </p:nvSpPr>
        <p:spPr>
          <a:xfrm>
            <a:off x="3913560" y="3694320"/>
            <a:ext cx="1481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Feature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Scaling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51"/>
          <p:cNvSpPr/>
          <p:nvPr/>
        </p:nvSpPr>
        <p:spPr>
          <a:xfrm>
            <a:off x="3913560" y="4133160"/>
            <a:ext cx="1481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Step 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Norm / Std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52"/>
          <p:cNvSpPr/>
          <p:nvPr/>
        </p:nvSpPr>
        <p:spPr>
          <a:xfrm>
            <a:off x="3620880" y="4096440"/>
            <a:ext cx="246960" cy="360"/>
          </a:xfrm>
          <a:prstGeom prst="line">
            <a:avLst/>
          </a:prstGeom>
          <a:ln w="1905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53"/>
          <p:cNvSpPr/>
          <p:nvPr/>
        </p:nvSpPr>
        <p:spPr>
          <a:xfrm>
            <a:off x="3767400" y="3959280"/>
            <a:ext cx="200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54"/>
          <p:cNvSpPr/>
          <p:nvPr/>
        </p:nvSpPr>
        <p:spPr>
          <a:xfrm>
            <a:off x="2295000" y="3127320"/>
            <a:ext cx="475200" cy="475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55"/>
          <p:cNvSpPr/>
          <p:nvPr/>
        </p:nvSpPr>
        <p:spPr>
          <a:xfrm>
            <a:off x="2295000" y="31273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56"/>
          <p:cNvSpPr/>
          <p:nvPr/>
        </p:nvSpPr>
        <p:spPr>
          <a:xfrm>
            <a:off x="2048400" y="3657600"/>
            <a:ext cx="1572480" cy="868320"/>
          </a:xfrm>
          <a:prstGeom prst="rect">
            <a:avLst/>
          </a:prstGeom>
          <a:solidFill>
            <a:srgbClr val="f4f7fc"/>
          </a:solidFill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57"/>
          <p:cNvSpPr/>
          <p:nvPr/>
        </p:nvSpPr>
        <p:spPr>
          <a:xfrm>
            <a:off x="2094120" y="3694320"/>
            <a:ext cx="1481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Outlier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Handling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58"/>
          <p:cNvSpPr/>
          <p:nvPr/>
        </p:nvSpPr>
        <p:spPr>
          <a:xfrm>
            <a:off x="2094120" y="4133160"/>
            <a:ext cx="1481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Step 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Cap / Remove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59"/>
          <p:cNvSpPr/>
          <p:nvPr/>
        </p:nvSpPr>
        <p:spPr>
          <a:xfrm>
            <a:off x="1801080" y="4096440"/>
            <a:ext cx="246960" cy="360"/>
          </a:xfrm>
          <a:prstGeom prst="line">
            <a:avLst/>
          </a:prstGeom>
          <a:ln w="1905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60"/>
          <p:cNvSpPr/>
          <p:nvPr/>
        </p:nvSpPr>
        <p:spPr>
          <a:xfrm>
            <a:off x="1947600" y="3959280"/>
            <a:ext cx="200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61"/>
          <p:cNvSpPr/>
          <p:nvPr/>
        </p:nvSpPr>
        <p:spPr>
          <a:xfrm>
            <a:off x="475560" y="3127320"/>
            <a:ext cx="475200" cy="475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62"/>
          <p:cNvSpPr/>
          <p:nvPr/>
        </p:nvSpPr>
        <p:spPr>
          <a:xfrm>
            <a:off x="475560" y="31273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63"/>
          <p:cNvSpPr/>
          <p:nvPr/>
        </p:nvSpPr>
        <p:spPr>
          <a:xfrm>
            <a:off x="228600" y="3657600"/>
            <a:ext cx="1572480" cy="868320"/>
          </a:xfrm>
          <a:prstGeom prst="rect">
            <a:avLst/>
          </a:prstGeom>
          <a:solidFill>
            <a:srgbClr val="f4f7fc"/>
          </a:solidFill>
          <a:ln w="1905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64"/>
          <p:cNvSpPr/>
          <p:nvPr/>
        </p:nvSpPr>
        <p:spPr>
          <a:xfrm>
            <a:off x="274320" y="3694320"/>
            <a:ext cx="1481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Encode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Columns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65"/>
          <p:cNvSpPr/>
          <p:nvPr/>
        </p:nvSpPr>
        <p:spPr>
          <a:xfrm>
            <a:off x="274320" y="4133160"/>
            <a:ext cx="1481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Step 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Label / OHE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"/>
          <p:cNvSpPr/>
          <p:nvPr/>
        </p:nvSpPr>
        <p:spPr>
          <a:xfrm>
            <a:off x="0" y="0"/>
            <a:ext cx="109440" cy="685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228600" y="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c2c54"/>
                </a:solidFill>
                <a:latin typeface="Calibri"/>
                <a:ea typeface="Calibri"/>
              </a:rPr>
              <a:t>05  |  Working of the Model  (1 / 2)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6858000" y="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Data Quality Maintenance Tool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4"/>
          <p:cNvSpPr/>
          <p:nvPr/>
        </p:nvSpPr>
        <p:spPr>
          <a:xfrm>
            <a:off x="0" y="5047560"/>
            <a:ext cx="9143640" cy="910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5"/>
          <p:cNvSpPr/>
          <p:nvPr/>
        </p:nvSpPr>
        <p:spPr>
          <a:xfrm>
            <a:off x="228600" y="822960"/>
            <a:ext cx="4251600" cy="2148480"/>
          </a:xfrm>
          <a:prstGeom prst="rect">
            <a:avLst/>
          </a:prstGeom>
          <a:solidFill>
            <a:srgbClr val="f4f7fc"/>
          </a:solidFill>
          <a:ln w="1016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320040" y="841320"/>
            <a:ext cx="4068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565c0"/>
                </a:solidFill>
                <a:latin typeface="Calibri"/>
                <a:ea typeface="Calibri"/>
              </a:rPr>
              <a:t>File Upload &amp; Data Summary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Image 0" descr="/home/claude/img9.png"/>
          <p:cNvPicPr/>
          <p:nvPr/>
        </p:nvPicPr>
        <p:blipFill>
          <a:blip r:embed="rId1"/>
          <a:stretch/>
        </p:blipFill>
        <p:spPr>
          <a:xfrm>
            <a:off x="274320" y="1188720"/>
            <a:ext cx="4160160" cy="1737000"/>
          </a:xfrm>
          <a:prstGeom prst="rect">
            <a:avLst/>
          </a:prstGeom>
          <a:ln w="0">
            <a:noFill/>
          </a:ln>
        </p:spPr>
      </p:pic>
      <p:sp>
        <p:nvSpPr>
          <p:cNvPr id="241" name="Shape 7"/>
          <p:cNvSpPr/>
          <p:nvPr/>
        </p:nvSpPr>
        <p:spPr>
          <a:xfrm>
            <a:off x="4663440" y="822960"/>
            <a:ext cx="4251600" cy="2148480"/>
          </a:xfrm>
          <a:prstGeom prst="rect">
            <a:avLst/>
          </a:prstGeom>
          <a:solidFill>
            <a:srgbClr val="f4f7fc"/>
          </a:solidFill>
          <a:ln w="1016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8"/>
          <p:cNvSpPr/>
          <p:nvPr/>
        </p:nvSpPr>
        <p:spPr>
          <a:xfrm>
            <a:off x="4754880" y="841320"/>
            <a:ext cx="4068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7d32"/>
                </a:solidFill>
                <a:latin typeface="Calibri"/>
                <a:ea typeface="Calibri"/>
              </a:rPr>
              <a:t>Overall Quality Score Dashboard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3" name="Image 1" descr="/home/claude/img8.png"/>
          <p:cNvPicPr/>
          <p:nvPr/>
        </p:nvPicPr>
        <p:blipFill>
          <a:blip r:embed="rId2"/>
          <a:stretch/>
        </p:blipFill>
        <p:spPr>
          <a:xfrm>
            <a:off x="4709160" y="1188720"/>
            <a:ext cx="4160160" cy="1737000"/>
          </a:xfrm>
          <a:prstGeom prst="rect">
            <a:avLst/>
          </a:prstGeom>
          <a:ln w="0">
            <a:noFill/>
          </a:ln>
        </p:spPr>
      </p:pic>
      <p:sp>
        <p:nvSpPr>
          <p:cNvPr id="244" name="Shape 9"/>
          <p:cNvSpPr/>
          <p:nvPr/>
        </p:nvSpPr>
        <p:spPr>
          <a:xfrm>
            <a:off x="228600" y="3063240"/>
            <a:ext cx="4251600" cy="685440"/>
          </a:xfrm>
          <a:prstGeom prst="rect">
            <a:avLst/>
          </a:prstGeom>
          <a:solidFill>
            <a:srgbClr val="eaf0fb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338400" y="3090600"/>
            <a:ext cx="4041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565c0"/>
                </a:solidFill>
                <a:latin typeface="Calibri"/>
                <a:ea typeface="Calibri"/>
              </a:rPr>
              <a:t>Step 0 — Upload: </a:t>
            </a: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Supports CSV/TSV/XLSX/JSON up to 200MB. Data is instantly parsed, profiled (28 rows × 5 cols), and cached for the session.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1"/>
          <p:cNvSpPr/>
          <p:nvPr/>
        </p:nvSpPr>
        <p:spPr>
          <a:xfrm>
            <a:off x="4663440" y="3063240"/>
            <a:ext cx="4251600" cy="685440"/>
          </a:xfrm>
          <a:prstGeom prst="rect">
            <a:avLst/>
          </a:prstGeom>
          <a:solidFill>
            <a:srgbClr val="eaf0fb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4773240" y="3090600"/>
            <a:ext cx="4041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7d32"/>
                </a:solidFill>
                <a:latin typeface="Calibri"/>
                <a:ea typeface="Calibri"/>
              </a:rPr>
              <a:t>Quality Score: </a:t>
            </a: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A gauge (0–100%) grades the dataset A–F using missing %, duplicate count, outlier density, and type issue flags.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228600" y="3840480"/>
            <a:ext cx="8686440" cy="1051200"/>
          </a:xfrm>
          <a:prstGeom prst="rect">
            <a:avLst/>
          </a:prstGeom>
          <a:solidFill>
            <a:srgbClr val="f4f7fc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14"/>
          <p:cNvSpPr/>
          <p:nvPr/>
        </p:nvSpPr>
        <p:spPr>
          <a:xfrm>
            <a:off x="365760" y="385884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62828"/>
                </a:solidFill>
                <a:latin typeface="Calibri"/>
                <a:ea typeface="Calibri"/>
              </a:rPr>
              <a:t>Issue Detection &amp; Faulty Row Samples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Image 2" descr="/home/claude/img4.png"/>
          <p:cNvPicPr/>
          <p:nvPr/>
        </p:nvPicPr>
        <p:blipFill>
          <a:blip r:embed="rId3"/>
          <a:stretch/>
        </p:blipFill>
        <p:spPr>
          <a:xfrm>
            <a:off x="274320" y="4160520"/>
            <a:ext cx="8595000" cy="68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"/>
          <p:cNvSpPr/>
          <p:nvPr/>
        </p:nvSpPr>
        <p:spPr>
          <a:xfrm>
            <a:off x="0" y="0"/>
            <a:ext cx="109440" cy="685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2"/>
          <p:cNvSpPr/>
          <p:nvPr/>
        </p:nvSpPr>
        <p:spPr>
          <a:xfrm>
            <a:off x="228600" y="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c2c54"/>
                </a:solidFill>
                <a:latin typeface="Calibri"/>
                <a:ea typeface="Calibri"/>
              </a:rPr>
              <a:t>05  |  Working of the Model  (2 / 2)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3"/>
          <p:cNvSpPr/>
          <p:nvPr/>
        </p:nvSpPr>
        <p:spPr>
          <a:xfrm>
            <a:off x="6858000" y="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Data Quality Maintenance Tool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4"/>
          <p:cNvSpPr/>
          <p:nvPr/>
        </p:nvSpPr>
        <p:spPr>
          <a:xfrm>
            <a:off x="0" y="5047560"/>
            <a:ext cx="9143640" cy="910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5"/>
          <p:cNvSpPr/>
          <p:nvPr/>
        </p:nvSpPr>
        <p:spPr>
          <a:xfrm>
            <a:off x="228600" y="804600"/>
            <a:ext cx="2834280" cy="2395440"/>
          </a:xfrm>
          <a:prstGeom prst="rect">
            <a:avLst/>
          </a:prstGeom>
          <a:solidFill>
            <a:srgbClr val="f4f7fc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6"/>
          <p:cNvSpPr/>
          <p:nvPr/>
        </p:nvSpPr>
        <p:spPr>
          <a:xfrm>
            <a:off x="301680" y="822960"/>
            <a:ext cx="2688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32"/>
                </a:solidFill>
                <a:latin typeface="Calibri"/>
                <a:ea typeface="Calibri"/>
              </a:rPr>
              <a:t>Steps 1–3: Duplication, Missing Values &amp; Categorical Cleaning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8" name="Image 0" descr="/home/claude/img3.png"/>
          <p:cNvPicPr/>
          <p:nvPr/>
        </p:nvPicPr>
        <p:blipFill>
          <a:blip r:embed="rId1"/>
          <a:stretch/>
        </p:blipFill>
        <p:spPr>
          <a:xfrm>
            <a:off x="292680" y="1252800"/>
            <a:ext cx="2706120" cy="1919880"/>
          </a:xfrm>
          <a:prstGeom prst="rect">
            <a:avLst/>
          </a:prstGeom>
          <a:ln w="0">
            <a:noFill/>
          </a:ln>
        </p:spPr>
      </p:pic>
      <p:sp>
        <p:nvSpPr>
          <p:cNvPr id="259" name="Shape 7"/>
          <p:cNvSpPr/>
          <p:nvPr/>
        </p:nvSpPr>
        <p:spPr>
          <a:xfrm>
            <a:off x="3209400" y="804600"/>
            <a:ext cx="2834280" cy="2395440"/>
          </a:xfrm>
          <a:prstGeom prst="rect">
            <a:avLst/>
          </a:prstGeom>
          <a:solidFill>
            <a:srgbClr val="f4f7fc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8"/>
          <p:cNvSpPr/>
          <p:nvPr/>
        </p:nvSpPr>
        <p:spPr>
          <a:xfrm>
            <a:off x="3282840" y="822960"/>
            <a:ext cx="2688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565c0"/>
                </a:solidFill>
                <a:latin typeface="Calibri"/>
                <a:ea typeface="Calibri"/>
              </a:rPr>
              <a:t>Steps 4–5: Encoding &amp; Outlier Handling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1" name="Image 1" descr="/home/claude/img2.png"/>
          <p:cNvPicPr/>
          <p:nvPr/>
        </p:nvPicPr>
        <p:blipFill>
          <a:blip r:embed="rId2"/>
          <a:stretch/>
        </p:blipFill>
        <p:spPr>
          <a:xfrm>
            <a:off x="3273480" y="1252800"/>
            <a:ext cx="2706120" cy="1919880"/>
          </a:xfrm>
          <a:prstGeom prst="rect">
            <a:avLst/>
          </a:prstGeom>
          <a:ln w="0">
            <a:noFill/>
          </a:ln>
        </p:spPr>
      </p:pic>
      <p:sp>
        <p:nvSpPr>
          <p:cNvPr id="262" name="Shape 9"/>
          <p:cNvSpPr/>
          <p:nvPr/>
        </p:nvSpPr>
        <p:spPr>
          <a:xfrm>
            <a:off x="6190560" y="804600"/>
            <a:ext cx="2834280" cy="2395440"/>
          </a:xfrm>
          <a:prstGeom prst="rect">
            <a:avLst/>
          </a:prstGeom>
          <a:solidFill>
            <a:srgbClr val="f4f7fc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0"/>
          <p:cNvSpPr/>
          <p:nvPr/>
        </p:nvSpPr>
        <p:spPr>
          <a:xfrm>
            <a:off x="6263640" y="822960"/>
            <a:ext cx="2688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65100"/>
                </a:solidFill>
                <a:latin typeface="Calibri"/>
                <a:ea typeface="Calibri"/>
              </a:rPr>
              <a:t>Step 6 + Preview: Feature Scaling &amp; CSV Export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4" name="Image 2" descr="/home/claude/img1.png"/>
          <p:cNvPicPr/>
          <p:nvPr/>
        </p:nvPicPr>
        <p:blipFill>
          <a:blip r:embed="rId3"/>
          <a:stretch/>
        </p:blipFill>
        <p:spPr>
          <a:xfrm>
            <a:off x="6254640" y="1252800"/>
            <a:ext cx="2706120" cy="1919880"/>
          </a:xfrm>
          <a:prstGeom prst="rect">
            <a:avLst/>
          </a:prstGeom>
          <a:ln w="0">
            <a:noFill/>
          </a:ln>
        </p:spPr>
      </p:pic>
      <p:sp>
        <p:nvSpPr>
          <p:cNvPr id="265" name="Shape 11"/>
          <p:cNvSpPr/>
          <p:nvPr/>
        </p:nvSpPr>
        <p:spPr>
          <a:xfrm>
            <a:off x="228600" y="3310200"/>
            <a:ext cx="4343040" cy="1572480"/>
          </a:xfrm>
          <a:prstGeom prst="rect">
            <a:avLst/>
          </a:prstGeom>
          <a:solidFill>
            <a:srgbClr val="f4f7fc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2"/>
          <p:cNvSpPr/>
          <p:nvPr/>
        </p:nvSpPr>
        <p:spPr>
          <a:xfrm>
            <a:off x="347400" y="3337560"/>
            <a:ext cx="4132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62828"/>
                </a:solidFill>
                <a:latin typeface="Calibri"/>
                <a:ea typeface="Calibri"/>
              </a:rPr>
              <a:t>Distribution &amp; Categorical Charts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Image 3" descr="/home/claude/img5.png"/>
          <p:cNvPicPr/>
          <p:nvPr/>
        </p:nvPicPr>
        <p:blipFill>
          <a:blip r:embed="rId4"/>
          <a:stretch/>
        </p:blipFill>
        <p:spPr>
          <a:xfrm>
            <a:off x="274320" y="3657600"/>
            <a:ext cx="4251600" cy="1188360"/>
          </a:xfrm>
          <a:prstGeom prst="rect">
            <a:avLst/>
          </a:prstGeom>
          <a:ln w="0">
            <a:noFill/>
          </a:ln>
        </p:spPr>
      </p:pic>
      <p:sp>
        <p:nvSpPr>
          <p:cNvPr id="268" name="Shape 13"/>
          <p:cNvSpPr/>
          <p:nvPr/>
        </p:nvSpPr>
        <p:spPr>
          <a:xfrm>
            <a:off x="4754880" y="3310200"/>
            <a:ext cx="4160160" cy="1572480"/>
          </a:xfrm>
          <a:prstGeom prst="rect">
            <a:avLst/>
          </a:prstGeom>
          <a:solidFill>
            <a:srgbClr val="f4f7fc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4"/>
          <p:cNvSpPr/>
          <p:nvPr/>
        </p:nvSpPr>
        <p:spPr>
          <a:xfrm>
            <a:off x="4864680" y="3337560"/>
            <a:ext cx="3977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65100"/>
                </a:solidFill>
                <a:latin typeface="Calibri"/>
                <a:ea typeface="Calibri"/>
              </a:rPr>
              <a:t>Outlier Count &amp; Correlation Heatmap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0" name="Image 4" descr="/home/claude/img6.png"/>
          <p:cNvPicPr/>
          <p:nvPr/>
        </p:nvPicPr>
        <p:blipFill>
          <a:blip r:embed="rId5"/>
          <a:stretch/>
        </p:blipFill>
        <p:spPr>
          <a:xfrm>
            <a:off x="4800600" y="3657600"/>
            <a:ext cx="4068720" cy="118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"/>
          <p:cNvSpPr/>
          <p:nvPr/>
        </p:nvSpPr>
        <p:spPr>
          <a:xfrm>
            <a:off x="0" y="0"/>
            <a:ext cx="109440" cy="685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"/>
          <p:cNvSpPr/>
          <p:nvPr/>
        </p:nvSpPr>
        <p:spPr>
          <a:xfrm>
            <a:off x="228600" y="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c2c54"/>
                </a:solidFill>
                <a:latin typeface="Calibri"/>
                <a:ea typeface="Calibri"/>
              </a:rPr>
              <a:t>06  |  Advantages &amp; Limitations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3"/>
          <p:cNvSpPr/>
          <p:nvPr/>
        </p:nvSpPr>
        <p:spPr>
          <a:xfrm>
            <a:off x="6858000" y="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Data Quality Maintenance Tool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4"/>
          <p:cNvSpPr/>
          <p:nvPr/>
        </p:nvSpPr>
        <p:spPr>
          <a:xfrm>
            <a:off x="0" y="5047560"/>
            <a:ext cx="9143640" cy="91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5"/>
          <p:cNvSpPr/>
          <p:nvPr/>
        </p:nvSpPr>
        <p:spPr>
          <a:xfrm>
            <a:off x="228600" y="804600"/>
            <a:ext cx="4205880" cy="383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6"/>
          <p:cNvSpPr/>
          <p:nvPr/>
        </p:nvSpPr>
        <p:spPr>
          <a:xfrm>
            <a:off x="274320" y="80460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ADVANTAGES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7"/>
          <p:cNvSpPr/>
          <p:nvPr/>
        </p:nvSpPr>
        <p:spPr>
          <a:xfrm>
            <a:off x="228600" y="1261800"/>
            <a:ext cx="4205880" cy="438480"/>
          </a:xfrm>
          <a:prstGeom prst="rect">
            <a:avLst/>
          </a:prstGeom>
          <a:solidFill>
            <a:srgbClr val="f4f7fc"/>
          </a:solidFill>
          <a:ln w="635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8"/>
          <p:cNvSpPr/>
          <p:nvPr/>
        </p:nvSpPr>
        <p:spPr>
          <a:xfrm>
            <a:off x="320040" y="131688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e7d32"/>
                </a:solidFill>
                <a:latin typeface="Calibri"/>
                <a:ea typeface="Calibri"/>
              </a:rPr>
              <a:t>✓ 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No coding required — fully point-and-click interface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9"/>
          <p:cNvSpPr/>
          <p:nvPr/>
        </p:nvSpPr>
        <p:spPr>
          <a:xfrm>
            <a:off x="228600" y="1746360"/>
            <a:ext cx="4205880" cy="438480"/>
          </a:xfrm>
          <a:prstGeom prst="rect">
            <a:avLst/>
          </a:prstGeom>
          <a:solidFill>
            <a:srgbClr val="f4f7fc"/>
          </a:solidFill>
          <a:ln w="635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10"/>
          <p:cNvSpPr/>
          <p:nvPr/>
        </p:nvSpPr>
        <p:spPr>
          <a:xfrm>
            <a:off x="320040" y="18014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e7d32"/>
                </a:solidFill>
                <a:latin typeface="Calibri"/>
                <a:ea typeface="Calibri"/>
              </a:rPr>
              <a:t>✓ 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Auto-detects column data types and suggests fixes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11"/>
          <p:cNvSpPr/>
          <p:nvPr/>
        </p:nvSpPr>
        <p:spPr>
          <a:xfrm>
            <a:off x="228600" y="2231280"/>
            <a:ext cx="4205880" cy="438480"/>
          </a:xfrm>
          <a:prstGeom prst="rect">
            <a:avLst/>
          </a:prstGeom>
          <a:solidFill>
            <a:srgbClr val="f4f7fc"/>
          </a:solidFill>
          <a:ln w="635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2"/>
          <p:cNvSpPr/>
          <p:nvPr/>
        </p:nvSpPr>
        <p:spPr>
          <a:xfrm>
            <a:off x="320040" y="22860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e7d32"/>
                </a:solidFill>
                <a:latin typeface="Calibri"/>
                <a:ea typeface="Calibri"/>
              </a:rPr>
              <a:t>✓ 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Quantified Quality Score: objective Grade A–F rating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13"/>
          <p:cNvSpPr/>
          <p:nvPr/>
        </p:nvSpPr>
        <p:spPr>
          <a:xfrm>
            <a:off x="228600" y="2715840"/>
            <a:ext cx="4205880" cy="438480"/>
          </a:xfrm>
          <a:prstGeom prst="rect">
            <a:avLst/>
          </a:prstGeom>
          <a:solidFill>
            <a:srgbClr val="f4f7fc"/>
          </a:solidFill>
          <a:ln w="635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14"/>
          <p:cNvSpPr/>
          <p:nvPr/>
        </p:nvSpPr>
        <p:spPr>
          <a:xfrm>
            <a:off x="320040" y="277056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e7d32"/>
                </a:solidFill>
                <a:latin typeface="Calibri"/>
                <a:ea typeface="Calibri"/>
              </a:rPr>
              <a:t>✓ 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Supports CSV, TSV, Excel, and JSON file formats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15"/>
          <p:cNvSpPr/>
          <p:nvPr/>
        </p:nvSpPr>
        <p:spPr>
          <a:xfrm>
            <a:off x="228600" y="3200400"/>
            <a:ext cx="4205880" cy="438480"/>
          </a:xfrm>
          <a:prstGeom prst="rect">
            <a:avLst/>
          </a:prstGeom>
          <a:solidFill>
            <a:srgbClr val="f4f7fc"/>
          </a:solidFill>
          <a:ln w="635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16"/>
          <p:cNvSpPr/>
          <p:nvPr/>
        </p:nvSpPr>
        <p:spPr>
          <a:xfrm>
            <a:off x="320040" y="325512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e7d32"/>
                </a:solidFill>
                <a:latin typeface="Calibri"/>
                <a:ea typeface="Calibri"/>
              </a:rPr>
              <a:t>✓ 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Interactive visual analytics: histograms, bar charts, heatmaps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17"/>
          <p:cNvSpPr/>
          <p:nvPr/>
        </p:nvSpPr>
        <p:spPr>
          <a:xfrm>
            <a:off x="228600" y="3684960"/>
            <a:ext cx="4205880" cy="438480"/>
          </a:xfrm>
          <a:prstGeom prst="rect">
            <a:avLst/>
          </a:prstGeom>
          <a:solidFill>
            <a:srgbClr val="f4f7fc"/>
          </a:solidFill>
          <a:ln w="635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18"/>
          <p:cNvSpPr/>
          <p:nvPr/>
        </p:nvSpPr>
        <p:spPr>
          <a:xfrm>
            <a:off x="320040" y="37400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e7d32"/>
                </a:solidFill>
                <a:latin typeface="Calibri"/>
                <a:ea typeface="Calibri"/>
              </a:rPr>
              <a:t>✓ 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All steps are reversible via 'Reset to Original Data'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19"/>
          <p:cNvSpPr/>
          <p:nvPr/>
        </p:nvSpPr>
        <p:spPr>
          <a:xfrm>
            <a:off x="228600" y="4169520"/>
            <a:ext cx="4205880" cy="438480"/>
          </a:xfrm>
          <a:prstGeom prst="rect">
            <a:avLst/>
          </a:prstGeom>
          <a:solidFill>
            <a:srgbClr val="f4f7fc"/>
          </a:solidFill>
          <a:ln w="6350">
            <a:solidFill>
              <a:srgbClr val="c8e6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20"/>
          <p:cNvSpPr/>
          <p:nvPr/>
        </p:nvSpPr>
        <p:spPr>
          <a:xfrm>
            <a:off x="320040" y="42246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e7d32"/>
                </a:solidFill>
                <a:latin typeface="Calibri"/>
                <a:ea typeface="Calibri"/>
              </a:rPr>
              <a:t>✓ 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Reproducible 6-step cleaning workflow every time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21"/>
          <p:cNvSpPr/>
          <p:nvPr/>
        </p:nvSpPr>
        <p:spPr>
          <a:xfrm>
            <a:off x="4709160" y="804600"/>
            <a:ext cx="4205880" cy="383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22"/>
          <p:cNvSpPr/>
          <p:nvPr/>
        </p:nvSpPr>
        <p:spPr>
          <a:xfrm>
            <a:off x="4754880" y="80460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LIMITATIONS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23"/>
          <p:cNvSpPr/>
          <p:nvPr/>
        </p:nvSpPr>
        <p:spPr>
          <a:xfrm>
            <a:off x="4709160" y="1261800"/>
            <a:ext cx="4205880" cy="438480"/>
          </a:xfrm>
          <a:prstGeom prst="rect">
            <a:avLst/>
          </a:prstGeom>
          <a:solidFill>
            <a:srgbClr val="f4f7fc"/>
          </a:solidFill>
          <a:ln w="6350">
            <a:solidFill>
              <a:srgbClr val="ffcd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24"/>
          <p:cNvSpPr/>
          <p:nvPr/>
        </p:nvSpPr>
        <p:spPr>
          <a:xfrm>
            <a:off x="4800600" y="131688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62828"/>
                </a:solidFill>
                <a:latin typeface="Calibri"/>
                <a:ea typeface="Calibri"/>
              </a:rPr>
              <a:t>✗ 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200MB file size cap — insufficient for large enterprise data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25"/>
          <p:cNvSpPr/>
          <p:nvPr/>
        </p:nvSpPr>
        <p:spPr>
          <a:xfrm>
            <a:off x="4709160" y="1746360"/>
            <a:ext cx="4205880" cy="438480"/>
          </a:xfrm>
          <a:prstGeom prst="rect">
            <a:avLst/>
          </a:prstGeom>
          <a:solidFill>
            <a:srgbClr val="f4f7fc"/>
          </a:solidFill>
          <a:ln w="6350">
            <a:solidFill>
              <a:srgbClr val="ffcd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26"/>
          <p:cNvSpPr/>
          <p:nvPr/>
        </p:nvSpPr>
        <p:spPr>
          <a:xfrm>
            <a:off x="4800600" y="18014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62828"/>
                </a:solidFill>
                <a:latin typeface="Calibri"/>
                <a:ea typeface="Calibri"/>
              </a:rPr>
              <a:t>✗ 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No persistent storage — session data lost on refresh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27"/>
          <p:cNvSpPr/>
          <p:nvPr/>
        </p:nvSpPr>
        <p:spPr>
          <a:xfrm>
            <a:off x="4709160" y="2231280"/>
            <a:ext cx="4205880" cy="438480"/>
          </a:xfrm>
          <a:prstGeom prst="rect">
            <a:avLst/>
          </a:prstGeom>
          <a:solidFill>
            <a:srgbClr val="f4f7fc"/>
          </a:solidFill>
          <a:ln w="6350">
            <a:solidFill>
              <a:srgbClr val="ffcd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28"/>
          <p:cNvSpPr/>
          <p:nvPr/>
        </p:nvSpPr>
        <p:spPr>
          <a:xfrm>
            <a:off x="4800600" y="22860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62828"/>
                </a:solidFill>
                <a:latin typeface="Calibri"/>
                <a:ea typeface="Calibri"/>
              </a:rPr>
              <a:t>✗ 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Fixed pipeline; custom user-defined steps not supported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29"/>
          <p:cNvSpPr/>
          <p:nvPr/>
        </p:nvSpPr>
        <p:spPr>
          <a:xfrm>
            <a:off x="4709160" y="2715840"/>
            <a:ext cx="4205880" cy="438480"/>
          </a:xfrm>
          <a:prstGeom prst="rect">
            <a:avLst/>
          </a:prstGeom>
          <a:solidFill>
            <a:srgbClr val="f4f7fc"/>
          </a:solidFill>
          <a:ln w="6350">
            <a:solidFill>
              <a:srgbClr val="ffcd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30"/>
          <p:cNvSpPr/>
          <p:nvPr/>
        </p:nvSpPr>
        <p:spPr>
          <a:xfrm>
            <a:off x="4800600" y="277056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62828"/>
                </a:solidFill>
                <a:latin typeface="Calibri"/>
                <a:ea typeface="Calibri"/>
              </a:rPr>
              <a:t>✗ 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Lacks advanced imputation (MICE, deep learning-based)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31"/>
          <p:cNvSpPr/>
          <p:nvPr/>
        </p:nvSpPr>
        <p:spPr>
          <a:xfrm>
            <a:off x="4709160" y="3200400"/>
            <a:ext cx="4205880" cy="438480"/>
          </a:xfrm>
          <a:prstGeom prst="rect">
            <a:avLst/>
          </a:prstGeom>
          <a:solidFill>
            <a:srgbClr val="f4f7fc"/>
          </a:solidFill>
          <a:ln w="6350">
            <a:solidFill>
              <a:srgbClr val="ffcd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32"/>
          <p:cNvSpPr/>
          <p:nvPr/>
        </p:nvSpPr>
        <p:spPr>
          <a:xfrm>
            <a:off x="4800600" y="325512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62828"/>
                </a:solidFill>
                <a:latin typeface="Calibri"/>
                <a:ea typeface="Calibri"/>
              </a:rPr>
              <a:t>✗ 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No time-series operations (lag, resampling, seasonality)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33"/>
          <p:cNvSpPr/>
          <p:nvPr/>
        </p:nvSpPr>
        <p:spPr>
          <a:xfrm>
            <a:off x="4709160" y="3684960"/>
            <a:ext cx="4205880" cy="438480"/>
          </a:xfrm>
          <a:prstGeom prst="rect">
            <a:avLst/>
          </a:prstGeom>
          <a:solidFill>
            <a:srgbClr val="f4f7fc"/>
          </a:solidFill>
          <a:ln w="6350">
            <a:solidFill>
              <a:srgbClr val="ffcd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34"/>
          <p:cNvSpPr/>
          <p:nvPr/>
        </p:nvSpPr>
        <p:spPr>
          <a:xfrm>
            <a:off x="4800600" y="37400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62828"/>
                </a:solidFill>
                <a:latin typeface="Calibri"/>
                <a:ea typeface="Calibri"/>
              </a:rPr>
              <a:t>✗ 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Export limited to CSV — no DB or cloud integration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35"/>
          <p:cNvSpPr/>
          <p:nvPr/>
        </p:nvSpPr>
        <p:spPr>
          <a:xfrm>
            <a:off x="4709160" y="4169520"/>
            <a:ext cx="4205880" cy="438480"/>
          </a:xfrm>
          <a:prstGeom prst="rect">
            <a:avLst/>
          </a:prstGeom>
          <a:solidFill>
            <a:srgbClr val="f4f7fc"/>
          </a:solidFill>
          <a:ln w="6350">
            <a:solidFill>
              <a:srgbClr val="ffcd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36"/>
          <p:cNvSpPr/>
          <p:nvPr/>
        </p:nvSpPr>
        <p:spPr>
          <a:xfrm>
            <a:off x="4800600" y="42246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62828"/>
                </a:solidFill>
                <a:latin typeface="Calibri"/>
                <a:ea typeface="Calibri"/>
              </a:rPr>
              <a:t>✗ 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Single-user session; no multi-user collaboration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"/>
          <p:cNvSpPr/>
          <p:nvPr/>
        </p:nvSpPr>
        <p:spPr>
          <a:xfrm>
            <a:off x="0" y="0"/>
            <a:ext cx="109440" cy="685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2"/>
          <p:cNvSpPr/>
          <p:nvPr/>
        </p:nvSpPr>
        <p:spPr>
          <a:xfrm>
            <a:off x="228600" y="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c2c54"/>
                </a:solidFill>
                <a:latin typeface="Calibri"/>
                <a:ea typeface="Calibri"/>
              </a:rPr>
              <a:t>07  |  Future Work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3"/>
          <p:cNvSpPr/>
          <p:nvPr/>
        </p:nvSpPr>
        <p:spPr>
          <a:xfrm>
            <a:off x="6858000" y="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Data Quality Maintenance Tool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4"/>
          <p:cNvSpPr/>
          <p:nvPr/>
        </p:nvSpPr>
        <p:spPr>
          <a:xfrm>
            <a:off x="0" y="5047560"/>
            <a:ext cx="9143640" cy="91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5"/>
          <p:cNvSpPr/>
          <p:nvPr/>
        </p:nvSpPr>
        <p:spPr>
          <a:xfrm>
            <a:off x="228600" y="804600"/>
            <a:ext cx="4160160" cy="1261440"/>
          </a:xfrm>
          <a:prstGeom prst="rect">
            <a:avLst/>
          </a:prstGeom>
          <a:solidFill>
            <a:srgbClr val="f4f7fc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6"/>
          <p:cNvSpPr/>
          <p:nvPr/>
        </p:nvSpPr>
        <p:spPr>
          <a:xfrm>
            <a:off x="228600" y="804600"/>
            <a:ext cx="91080" cy="126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7"/>
          <p:cNvSpPr/>
          <p:nvPr/>
        </p:nvSpPr>
        <p:spPr>
          <a:xfrm>
            <a:off x="411480" y="914400"/>
            <a:ext cx="420120" cy="4201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8"/>
          <p:cNvSpPr/>
          <p:nvPr/>
        </p:nvSpPr>
        <p:spPr>
          <a:xfrm>
            <a:off x="411480" y="9144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941760" y="87768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565c0"/>
                </a:solidFill>
                <a:latin typeface="Calibri"/>
                <a:ea typeface="Calibri"/>
              </a:rPr>
              <a:t>AI-Powered Auto-Cleaning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10"/>
          <p:cNvSpPr/>
          <p:nvPr/>
        </p:nvSpPr>
        <p:spPr>
          <a:xfrm>
            <a:off x="941760" y="126180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Integrate an LLM that suggests optimal preprocessing strategies based on dataset context and ML task type.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1"/>
          <p:cNvSpPr/>
          <p:nvPr/>
        </p:nvSpPr>
        <p:spPr>
          <a:xfrm>
            <a:off x="4663440" y="804600"/>
            <a:ext cx="4160160" cy="1261440"/>
          </a:xfrm>
          <a:prstGeom prst="rect">
            <a:avLst/>
          </a:prstGeom>
          <a:solidFill>
            <a:srgbClr val="f4f7fc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2"/>
          <p:cNvSpPr/>
          <p:nvPr/>
        </p:nvSpPr>
        <p:spPr>
          <a:xfrm>
            <a:off x="4663440" y="804600"/>
            <a:ext cx="91080" cy="126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3"/>
          <p:cNvSpPr/>
          <p:nvPr/>
        </p:nvSpPr>
        <p:spPr>
          <a:xfrm>
            <a:off x="4846320" y="914400"/>
            <a:ext cx="420120" cy="4201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14"/>
          <p:cNvSpPr/>
          <p:nvPr/>
        </p:nvSpPr>
        <p:spPr>
          <a:xfrm>
            <a:off x="4846320" y="9144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5376600" y="87768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e7d32"/>
                </a:solidFill>
                <a:latin typeface="Calibri"/>
                <a:ea typeface="Calibri"/>
              </a:rPr>
              <a:t>Cloud Storage Integration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6"/>
          <p:cNvSpPr/>
          <p:nvPr/>
        </p:nvSpPr>
        <p:spPr>
          <a:xfrm>
            <a:off x="5376600" y="126180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Support direct read/write from Google Drive, AWS S3, Azure Blob, and BigQuery for enterprise workflows.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17"/>
          <p:cNvSpPr/>
          <p:nvPr/>
        </p:nvSpPr>
        <p:spPr>
          <a:xfrm>
            <a:off x="228600" y="2194560"/>
            <a:ext cx="4160160" cy="1261440"/>
          </a:xfrm>
          <a:prstGeom prst="rect">
            <a:avLst/>
          </a:prstGeom>
          <a:solidFill>
            <a:srgbClr val="f4f7fc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8"/>
          <p:cNvSpPr/>
          <p:nvPr/>
        </p:nvSpPr>
        <p:spPr>
          <a:xfrm>
            <a:off x="228600" y="2194560"/>
            <a:ext cx="91080" cy="1261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19"/>
          <p:cNvSpPr/>
          <p:nvPr/>
        </p:nvSpPr>
        <p:spPr>
          <a:xfrm>
            <a:off x="411480" y="2304360"/>
            <a:ext cx="420120" cy="4201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20"/>
          <p:cNvSpPr/>
          <p:nvPr/>
        </p:nvSpPr>
        <p:spPr>
          <a:xfrm>
            <a:off x="411480" y="23043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21"/>
          <p:cNvSpPr/>
          <p:nvPr/>
        </p:nvSpPr>
        <p:spPr>
          <a:xfrm>
            <a:off x="941760" y="226764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65100"/>
                </a:solidFill>
                <a:latin typeface="Calibri"/>
                <a:ea typeface="Calibri"/>
              </a:rPr>
              <a:t>Pipeline Script Export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22"/>
          <p:cNvSpPr/>
          <p:nvPr/>
        </p:nvSpPr>
        <p:spPr>
          <a:xfrm>
            <a:off x="941760" y="265176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Generate a reproducible Python script of all applied steps, enabling automation and CI/CD integration.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23"/>
          <p:cNvSpPr/>
          <p:nvPr/>
        </p:nvSpPr>
        <p:spPr>
          <a:xfrm>
            <a:off x="4663440" y="2194560"/>
            <a:ext cx="4160160" cy="1261440"/>
          </a:xfrm>
          <a:prstGeom prst="rect">
            <a:avLst/>
          </a:prstGeom>
          <a:solidFill>
            <a:srgbClr val="f4f7fc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24"/>
          <p:cNvSpPr/>
          <p:nvPr/>
        </p:nvSpPr>
        <p:spPr>
          <a:xfrm>
            <a:off x="4663440" y="2194560"/>
            <a:ext cx="91080" cy="126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25"/>
          <p:cNvSpPr/>
          <p:nvPr/>
        </p:nvSpPr>
        <p:spPr>
          <a:xfrm>
            <a:off x="4846320" y="2304360"/>
            <a:ext cx="420120" cy="4201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26"/>
          <p:cNvSpPr/>
          <p:nvPr/>
        </p:nvSpPr>
        <p:spPr>
          <a:xfrm>
            <a:off x="4846320" y="23043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27"/>
          <p:cNvSpPr/>
          <p:nvPr/>
        </p:nvSpPr>
        <p:spPr>
          <a:xfrm>
            <a:off x="5376600" y="226764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62828"/>
                </a:solidFill>
                <a:latin typeface="Calibri"/>
                <a:ea typeface="Calibri"/>
              </a:rPr>
              <a:t>Time-Series Support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28"/>
          <p:cNvSpPr/>
          <p:nvPr/>
        </p:nvSpPr>
        <p:spPr>
          <a:xfrm>
            <a:off x="5376600" y="265176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Add lag features, rolling statistics, seasonality detection, and gap-filling for temporal datasets.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29"/>
          <p:cNvSpPr/>
          <p:nvPr/>
        </p:nvSpPr>
        <p:spPr>
          <a:xfrm>
            <a:off x="228600" y="3584520"/>
            <a:ext cx="4160160" cy="1261440"/>
          </a:xfrm>
          <a:prstGeom prst="rect">
            <a:avLst/>
          </a:prstGeom>
          <a:solidFill>
            <a:srgbClr val="f4f7fc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30"/>
          <p:cNvSpPr/>
          <p:nvPr/>
        </p:nvSpPr>
        <p:spPr>
          <a:xfrm>
            <a:off x="228600" y="3584520"/>
            <a:ext cx="91080" cy="1261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31"/>
          <p:cNvSpPr/>
          <p:nvPr/>
        </p:nvSpPr>
        <p:spPr>
          <a:xfrm>
            <a:off x="411480" y="3694320"/>
            <a:ext cx="420120" cy="4201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32"/>
          <p:cNvSpPr/>
          <p:nvPr/>
        </p:nvSpPr>
        <p:spPr>
          <a:xfrm>
            <a:off x="411480" y="36943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33"/>
          <p:cNvSpPr/>
          <p:nvPr/>
        </p:nvSpPr>
        <p:spPr>
          <a:xfrm>
            <a:off x="941760" y="365760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6a1b9a"/>
                </a:solidFill>
                <a:latin typeface="Calibri"/>
                <a:ea typeface="Calibri"/>
              </a:rPr>
              <a:t>Multi-User Collaboration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34"/>
          <p:cNvSpPr/>
          <p:nvPr/>
        </p:nvSpPr>
        <p:spPr>
          <a:xfrm>
            <a:off x="941760" y="404172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Implement user accounts, shareable pipelines, and team-based annotation of data quality issues.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35"/>
          <p:cNvSpPr/>
          <p:nvPr/>
        </p:nvSpPr>
        <p:spPr>
          <a:xfrm>
            <a:off x="4663440" y="3584520"/>
            <a:ext cx="4160160" cy="1261440"/>
          </a:xfrm>
          <a:prstGeom prst="rect">
            <a:avLst/>
          </a:prstGeom>
          <a:solidFill>
            <a:srgbClr val="f4f7fc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36"/>
          <p:cNvSpPr/>
          <p:nvPr/>
        </p:nvSpPr>
        <p:spPr>
          <a:xfrm>
            <a:off x="4663440" y="3584520"/>
            <a:ext cx="91080" cy="126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37"/>
          <p:cNvSpPr/>
          <p:nvPr/>
        </p:nvSpPr>
        <p:spPr>
          <a:xfrm>
            <a:off x="4846320" y="3694320"/>
            <a:ext cx="420120" cy="4201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38"/>
          <p:cNvSpPr/>
          <p:nvPr/>
        </p:nvSpPr>
        <p:spPr>
          <a:xfrm>
            <a:off x="4846320" y="36943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39"/>
          <p:cNvSpPr/>
          <p:nvPr/>
        </p:nvSpPr>
        <p:spPr>
          <a:xfrm>
            <a:off x="5376600" y="3657600"/>
            <a:ext cx="3337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565c0"/>
                </a:solidFill>
                <a:latin typeface="Calibri"/>
                <a:ea typeface="Calibri"/>
              </a:rPr>
              <a:t>Advanced Imputation Methods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40"/>
          <p:cNvSpPr/>
          <p:nvPr/>
        </p:nvSpPr>
        <p:spPr>
          <a:xfrm>
            <a:off x="5376600" y="4041720"/>
            <a:ext cx="3337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Incorporate MICE, KNN with domain tuning, and neural network-based imputation for improved accuracy.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1"/>
          <p:cNvSpPr/>
          <p:nvPr/>
        </p:nvSpPr>
        <p:spPr>
          <a:xfrm>
            <a:off x="0" y="0"/>
            <a:ext cx="109440" cy="685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2"/>
          <p:cNvSpPr/>
          <p:nvPr/>
        </p:nvSpPr>
        <p:spPr>
          <a:xfrm>
            <a:off x="228600" y="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c2c54"/>
                </a:solidFill>
                <a:latin typeface="Calibri"/>
                <a:ea typeface="Calibri"/>
              </a:rPr>
              <a:t>08  |  Conclusion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3"/>
          <p:cNvSpPr/>
          <p:nvPr/>
        </p:nvSpPr>
        <p:spPr>
          <a:xfrm>
            <a:off x="6858000" y="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6070"/>
                </a:solidFill>
                <a:latin typeface="Calibri"/>
                <a:ea typeface="Calibri"/>
              </a:rPr>
              <a:t>Data Quality Maintenance Tool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4"/>
          <p:cNvSpPr/>
          <p:nvPr/>
        </p:nvSpPr>
        <p:spPr>
          <a:xfrm>
            <a:off x="0" y="5047560"/>
            <a:ext cx="9143640" cy="91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5"/>
          <p:cNvSpPr/>
          <p:nvPr/>
        </p:nvSpPr>
        <p:spPr>
          <a:xfrm>
            <a:off x="228600" y="804600"/>
            <a:ext cx="8686440" cy="1115280"/>
          </a:xfrm>
          <a:prstGeom prst="rect">
            <a:avLst/>
          </a:prstGeom>
          <a:solidFill>
            <a:srgbClr val="eaf0fb"/>
          </a:solidFill>
          <a:ln w="1016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6"/>
          <p:cNvSpPr/>
          <p:nvPr/>
        </p:nvSpPr>
        <p:spPr>
          <a:xfrm>
            <a:off x="365760" y="868680"/>
            <a:ext cx="8412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565c0"/>
                </a:solidFill>
                <a:latin typeface="Calibri"/>
                <a:ea typeface="Calibri"/>
              </a:rPr>
              <a:t>The Data Quality Maintenance Tool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successfully demonstrates how a structured, no-code preprocessing pipeline can significantly reduce the time and expertise required to prepare real-world datasets for machine learning. By combining automated quality auditing with a guided 6-step transformation workflow, the tool empowers users at all skill levels to achieve clean, analysis-ready data.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7"/>
          <p:cNvSpPr/>
          <p:nvPr/>
        </p:nvSpPr>
        <p:spPr>
          <a:xfrm>
            <a:off x="228600" y="2030040"/>
            <a:ext cx="8686440" cy="548280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8"/>
          <p:cNvSpPr/>
          <p:nvPr/>
        </p:nvSpPr>
        <p:spPr>
          <a:xfrm>
            <a:off x="228600" y="2030040"/>
            <a:ext cx="91080" cy="548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9"/>
          <p:cNvSpPr/>
          <p:nvPr/>
        </p:nvSpPr>
        <p:spPr>
          <a:xfrm>
            <a:off x="411480" y="210312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565c0"/>
                </a:solidFill>
                <a:latin typeface="Calibri"/>
                <a:ea typeface="Calibri"/>
              </a:rPr>
              <a:t>Complete Pipeline: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Achieved an end-to-end preprocessing pipeline covering all major data quality dimensions.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0"/>
          <p:cNvSpPr/>
          <p:nvPr/>
        </p:nvSpPr>
        <p:spPr>
          <a:xfrm>
            <a:off x="228600" y="2606040"/>
            <a:ext cx="8686440" cy="548280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1"/>
          <p:cNvSpPr/>
          <p:nvPr/>
        </p:nvSpPr>
        <p:spPr>
          <a:xfrm>
            <a:off x="228600" y="2606040"/>
            <a:ext cx="91080" cy="548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12"/>
          <p:cNvSpPr/>
          <p:nvPr/>
        </p:nvSpPr>
        <p:spPr>
          <a:xfrm>
            <a:off x="411480" y="267912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e7d32"/>
                </a:solidFill>
                <a:latin typeface="Calibri"/>
                <a:ea typeface="Calibri"/>
              </a:rPr>
              <a:t>Quantified Quality: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Scored dataset quality with an objective A–F grading system for transparent, reproducible reporting.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13"/>
          <p:cNvSpPr/>
          <p:nvPr/>
        </p:nvSpPr>
        <p:spPr>
          <a:xfrm>
            <a:off x="228600" y="3182040"/>
            <a:ext cx="8686440" cy="548280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4"/>
          <p:cNvSpPr/>
          <p:nvPr/>
        </p:nvSpPr>
        <p:spPr>
          <a:xfrm>
            <a:off x="228600" y="3182040"/>
            <a:ext cx="91080" cy="548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15"/>
          <p:cNvSpPr/>
          <p:nvPr/>
        </p:nvSpPr>
        <p:spPr>
          <a:xfrm>
            <a:off x="411480" y="325512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65100"/>
                </a:solidFill>
                <a:latin typeface="Calibri"/>
                <a:ea typeface="Calibri"/>
              </a:rPr>
              <a:t>Visual Analytics: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Interactive charts make data quality issues immediately visible and actionable for all users.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6"/>
          <p:cNvSpPr/>
          <p:nvPr/>
        </p:nvSpPr>
        <p:spPr>
          <a:xfrm>
            <a:off x="228600" y="3758040"/>
            <a:ext cx="8686440" cy="548280"/>
          </a:xfrm>
          <a:prstGeom prst="rect">
            <a:avLst/>
          </a:prstGeom>
          <a:solidFill>
            <a:srgbClr val="f4f7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7"/>
          <p:cNvSpPr/>
          <p:nvPr/>
        </p:nvSpPr>
        <p:spPr>
          <a:xfrm>
            <a:off x="228600" y="3758040"/>
            <a:ext cx="91080" cy="5482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18"/>
          <p:cNvSpPr/>
          <p:nvPr/>
        </p:nvSpPr>
        <p:spPr>
          <a:xfrm>
            <a:off x="411480" y="383148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62828"/>
                </a:solidFill>
                <a:latin typeface="Calibri"/>
                <a:ea typeface="Calibri"/>
              </a:rPr>
              <a:t>Real-World Validated: </a:t>
            </a: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Calibri"/>
              </a:rPr>
              <a:t>Tested on massy.csv (28 rows, 5 cols) — detected 8 missing values, 2 duplicates, and 5 outliers.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9"/>
          <p:cNvSpPr/>
          <p:nvPr/>
        </p:nvSpPr>
        <p:spPr>
          <a:xfrm>
            <a:off x="1097280" y="4407480"/>
            <a:ext cx="6949080" cy="529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20"/>
          <p:cNvSpPr/>
          <p:nvPr/>
        </p:nvSpPr>
        <p:spPr>
          <a:xfrm>
            <a:off x="1097280" y="4407480"/>
            <a:ext cx="6949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Thank You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LibreOffice/7.6.4.1$Windows_X86_64 LibreOffice_project/e19e193f88cd6c0525a17fb7a176ed8e6a3e2aa1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2026-04-28T08:02:10Z</dcterms:created>
  <dc:creator>PptxGenJS</dc:creator>
  <dc:description/>
  <dc:language>en-US</dc:language>
  <cp:lastModifiedBy/>
  <dcterms:modified xsi:type="dcterms:W3CDTF">2026-04-28T13:59:06Z</dcterms:modified>
  <cp:revision>2</cp:revision>
  <dc:subject>PptxGenJS Presentation</dc:subject>
  <dc:title>Data Quality Maintenance Tool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